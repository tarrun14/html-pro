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5" r:id="rId1"/>
  </p:sldMasterIdLst>
  <p:notesMasterIdLst>
    <p:notesMasterId r:id="rId9"/>
  </p:notesMasterIdLst>
  <p:sldIdLst>
    <p:sldId id="256" r:id="rId2"/>
    <p:sldId id="257" r:id="rId3"/>
    <p:sldId id="259" r:id="rId4"/>
    <p:sldId id="260" r:id="rId5"/>
    <p:sldId id="271" r:id="rId6"/>
    <p:sldId id="270" r:id="rId7"/>
    <p:sldId id="269" r:id="rId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j2XhkkJOwufMqBpgIubgyWk3k2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95F389-7A23-45CF-A60F-3DE1EDA1E315}">
  <a:tblStyle styleId="{4995F389-7A23-45CF-A60F-3DE1EDA1E31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25"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 Target="slides/slide4.xml"/><Relationship Id="rId2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8cbf804795_0_4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8cbf804795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5958" y="-4763"/>
            <a:ext cx="5013606"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7638" y="1380069"/>
            <a:ext cx="8572389" cy="2616199"/>
          </a:xfrm>
        </p:spPr>
        <p:txBody>
          <a:bodyPr anchor="b">
            <a:normAutofit/>
          </a:bodyPr>
          <a:lstStyle>
            <a:lvl1pPr algn="r">
              <a:defRPr sz="5998">
                <a:effectLst/>
              </a:defRPr>
            </a:lvl1pPr>
          </a:lstStyle>
          <a:p>
            <a:r>
              <a:rPr lang="en-US"/>
              <a:t>Click to edit Master title style</a:t>
            </a:r>
            <a:endParaRPr lang="en-US" dirty="0"/>
          </a:p>
        </p:txBody>
      </p:sp>
      <p:sp>
        <p:nvSpPr>
          <p:cNvPr id="3" name="Subtitle 2"/>
          <p:cNvSpPr>
            <a:spLocks noGrp="1"/>
          </p:cNvSpPr>
          <p:nvPr>
            <p:ph type="subTitle" idx="1"/>
          </p:nvPr>
        </p:nvSpPr>
        <p:spPr>
          <a:xfrm>
            <a:off x="4514202" y="3996267"/>
            <a:ext cx="6985825" cy="1388534"/>
          </a:xfrm>
        </p:spPr>
        <p:txBody>
          <a:bodyPr anchor="t">
            <a:normAutofit/>
          </a:bodyPr>
          <a:lstStyle>
            <a:lvl1pPr marL="0" indent="0" algn="r">
              <a:buNone/>
              <a:defRPr sz="2099">
                <a:solidFill>
                  <a:schemeClr val="tx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a:xfrm>
            <a:off x="5331023" y="5883276"/>
            <a:ext cx="4322918" cy="365125"/>
          </a:xfrm>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31853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49005" y="5867132"/>
            <a:ext cx="551023"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6985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1610" y="2666999"/>
            <a:ext cx="8928421" cy="2110382"/>
          </a:xfrm>
        </p:spPr>
        <p:txBody>
          <a:bodyPr anchor="b"/>
          <a:lstStyle>
            <a:lvl1pPr algn="r">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2571608" y="4777381"/>
            <a:ext cx="8928422" cy="860400"/>
          </a:xfrm>
        </p:spPr>
        <p:txBody>
          <a:bodyPr anchor="t">
            <a:normAutofit/>
          </a:bodyPr>
          <a:lstStyle>
            <a:lvl1pPr marL="0" indent="0" algn="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4366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3925" y="685801"/>
            <a:ext cx="10016104"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3926" y="2667000"/>
            <a:ext cx="4893780" cy="3124201"/>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6246" y="2667000"/>
            <a:ext cx="4893781" cy="3124200"/>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51900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1718" y="2658533"/>
            <a:ext cx="4605988" cy="576262"/>
          </a:xfrm>
        </p:spPr>
        <p:txBody>
          <a:bodyPr anchor="b">
            <a:noAutofit/>
          </a:bodyPr>
          <a:lstStyle>
            <a:lvl1pPr marL="0" indent="0">
              <a:buNone/>
              <a:defRPr sz="2799" b="0">
                <a:solidFill>
                  <a:schemeClr val="accent1">
                    <a:lumMod val="75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483925" y="3335337"/>
            <a:ext cx="4893781" cy="2455862"/>
          </a:xfrm>
        </p:spPr>
        <p:txBody>
          <a:bodyPr anchor="t">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78696" y="2667000"/>
            <a:ext cx="4621333" cy="576262"/>
          </a:xfrm>
        </p:spPr>
        <p:txBody>
          <a:bodyPr anchor="b">
            <a:noAutofit/>
          </a:bodyPr>
          <a:lstStyle>
            <a:lvl1pPr marL="0" indent="0">
              <a:buNone/>
              <a:defRPr sz="2799" b="0">
                <a:solidFill>
                  <a:schemeClr val="accent1">
                    <a:lumMod val="75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6246" y="3335337"/>
            <a:ext cx="4893781" cy="2455862"/>
          </a:xfrm>
        </p:spPr>
        <p:txBody>
          <a:bodyPr anchor="t">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199262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6238087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95852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926" y="1600200"/>
            <a:ext cx="3548197" cy="1371600"/>
          </a:xfrm>
        </p:spPr>
        <p:txBody>
          <a:bodyPr anchor="b">
            <a:normAutofit/>
          </a:bodyPr>
          <a:lstStyle>
            <a:lvl1pPr algn="ctr">
              <a:defRPr sz="2399" b="0"/>
            </a:lvl1pPr>
          </a:lstStyle>
          <a:p>
            <a:r>
              <a:rPr lang="en-US"/>
              <a:t>Click to edit Master title style</a:t>
            </a:r>
            <a:endParaRPr lang="en-US" dirty="0"/>
          </a:p>
        </p:txBody>
      </p:sp>
      <p:sp>
        <p:nvSpPr>
          <p:cNvPr id="3" name="Content Placeholder 2"/>
          <p:cNvSpPr>
            <a:spLocks noGrp="1"/>
          </p:cNvSpPr>
          <p:nvPr>
            <p:ph idx="1"/>
          </p:nvPr>
        </p:nvSpPr>
        <p:spPr>
          <a:xfrm>
            <a:off x="5260663" y="685800"/>
            <a:ext cx="6239365" cy="5105401"/>
          </a:xfrm>
        </p:spPr>
        <p:txBody>
          <a:bodyPr anchor="ctr">
            <a:normAutofit/>
          </a:bodyPr>
          <a:lstStyle>
            <a:lvl1pPr>
              <a:defRPr sz="1999"/>
            </a:lvl1pPr>
            <a:lvl2pPr>
              <a:defRPr sz="1799"/>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3926" y="2971800"/>
            <a:ext cx="3548197" cy="1828800"/>
          </a:xfrm>
        </p:spPr>
        <p:txBody>
          <a:bodyPr>
            <a:normAutofit/>
          </a:bodyPr>
          <a:lstStyle>
            <a:lvl1pPr marL="0" indent="0" algn="ctr">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9262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338" y="1752599"/>
            <a:ext cx="5424745" cy="1371600"/>
          </a:xfrm>
        </p:spPr>
        <p:txBody>
          <a:bodyPr anchor="b">
            <a:normAutofit/>
          </a:bodyPr>
          <a:lstStyle>
            <a:lvl1pPr algn="ctr">
              <a:defRPr sz="2799"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2704" y="914400"/>
            <a:ext cx="3280120"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338" y="3124199"/>
            <a:ext cx="5424745" cy="1828800"/>
          </a:xfrm>
        </p:spPr>
        <p:txBody>
          <a:bodyPr>
            <a:normAutofit/>
          </a:bodyPr>
          <a:lstStyle>
            <a:lvl1pPr marL="0" indent="0" algn="ctr">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6686969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925" y="4732865"/>
            <a:ext cx="10016102" cy="566738"/>
          </a:xfrm>
        </p:spPr>
        <p:txBody>
          <a:bodyPr anchor="b">
            <a:normAutofit/>
          </a:bodyPr>
          <a:lstStyle>
            <a:lvl1pPr algn="ctr">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5391" y="932112"/>
            <a:ext cx="8223802"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3925" y="5299603"/>
            <a:ext cx="10016102" cy="493712"/>
          </a:xfrm>
        </p:spPr>
        <p:txBody>
          <a:bodyPr>
            <a:normAutofit/>
          </a:bodyPr>
          <a:lstStyle>
            <a:lvl1pPr marL="0" indent="0" algn="ctr">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1896482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926" y="685800"/>
            <a:ext cx="10016102" cy="3048000"/>
          </a:xfrm>
        </p:spPr>
        <p:txBody>
          <a:bodyPr anchor="ctr">
            <a:normAutofit/>
          </a:bodyPr>
          <a:lstStyle>
            <a:lvl1pPr algn="ctr">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483926" y="4343400"/>
            <a:ext cx="10016104" cy="1447800"/>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698126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196" y="863023"/>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998" dirty="0">
                <a:solidFill>
                  <a:schemeClr val="tx1"/>
                </a:solidFill>
                <a:effectLst/>
              </a:rPr>
              <a:t>“</a:t>
            </a:r>
          </a:p>
        </p:txBody>
      </p:sp>
      <p:sp>
        <p:nvSpPr>
          <p:cNvPr id="15" name="TextBox 14"/>
          <p:cNvSpPr txBox="1"/>
          <p:nvPr/>
        </p:nvSpPr>
        <p:spPr>
          <a:xfrm>
            <a:off x="10890588" y="2819399"/>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2" name="Title 1"/>
          <p:cNvSpPr>
            <a:spLocks noGrp="1"/>
          </p:cNvSpPr>
          <p:nvPr>
            <p:ph type="title"/>
          </p:nvPr>
        </p:nvSpPr>
        <p:spPr>
          <a:xfrm>
            <a:off x="2207637" y="685801"/>
            <a:ext cx="8987671" cy="2743199"/>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177" y="3428999"/>
            <a:ext cx="8530593" cy="381000"/>
          </a:xfrm>
        </p:spPr>
        <p:txBody>
          <a:bodyPr anchor="ctr">
            <a:normAutofit/>
          </a:bodyPr>
          <a:lstStyle>
            <a:lvl1pPr marL="0" indent="0">
              <a:buFontTx/>
              <a:buNone/>
              <a:defRPr sz="1799"/>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1483925" y="4343400"/>
            <a:ext cx="10016102" cy="1447800"/>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924237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3927" y="3308581"/>
            <a:ext cx="10016100" cy="1468800"/>
          </a:xfrm>
        </p:spPr>
        <p:txBody>
          <a:bodyPr anchor="b">
            <a:normAutofit/>
          </a:bodyPr>
          <a:lstStyle>
            <a:lvl1pPr algn="r">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483925" y="4777381"/>
            <a:ext cx="10016101" cy="860400"/>
          </a:xfrm>
        </p:spPr>
        <p:txBody>
          <a:bodyPr anchor="t">
            <a:normAutofit/>
          </a:bodyPr>
          <a:lstStyle>
            <a:lvl1pPr marL="0" indent="0" algn="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9717776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196" y="863023"/>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998" dirty="0">
                <a:solidFill>
                  <a:schemeClr val="tx1"/>
                </a:solidFill>
                <a:effectLst/>
              </a:rPr>
              <a:t>“</a:t>
            </a:r>
          </a:p>
        </p:txBody>
      </p:sp>
      <p:sp>
        <p:nvSpPr>
          <p:cNvPr id="15" name="TextBox 14"/>
          <p:cNvSpPr txBox="1"/>
          <p:nvPr/>
        </p:nvSpPr>
        <p:spPr>
          <a:xfrm>
            <a:off x="10890588" y="2819399"/>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2" name="Title 1"/>
          <p:cNvSpPr>
            <a:spLocks noGrp="1"/>
          </p:cNvSpPr>
          <p:nvPr>
            <p:ph type="title"/>
          </p:nvPr>
        </p:nvSpPr>
        <p:spPr>
          <a:xfrm>
            <a:off x="2207637" y="685801"/>
            <a:ext cx="8987671" cy="2743199"/>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3926" y="3886200"/>
            <a:ext cx="10016101" cy="889000"/>
          </a:xfrm>
        </p:spPr>
        <p:txBody>
          <a:bodyPr vert="horz" lIns="91440" tIns="45720" rIns="91440" bIns="45720" rtlCol="0" anchor="b">
            <a:normAutofit/>
          </a:bodyPr>
          <a:lstStyle>
            <a:lvl1pPr algn="r">
              <a:buNone/>
              <a:defRPr lang="en-US" sz="23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3925" y="4775200"/>
            <a:ext cx="10016101" cy="1016000"/>
          </a:xfrm>
        </p:spPr>
        <p:txBody>
          <a:bodyPr anchor="t">
            <a:normAutofit/>
          </a:bodyPr>
          <a:lstStyle>
            <a:lvl1pPr marL="0" indent="0" algn="r">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5997873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3926" y="685801"/>
            <a:ext cx="10016103"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3926" y="3505200"/>
            <a:ext cx="10016104" cy="838200"/>
          </a:xfrm>
        </p:spPr>
        <p:txBody>
          <a:bodyPr vert="horz" lIns="91440" tIns="45720" rIns="91440" bIns="45720" rtlCol="0" anchor="b">
            <a:normAutofit/>
          </a:bodyPr>
          <a:lstStyle>
            <a:lvl1pPr>
              <a:buNone/>
              <a:defRPr lang="en-US" sz="27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3925" y="4343400"/>
            <a:ext cx="10016104" cy="14478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702507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473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0121" y="685800"/>
            <a:ext cx="1769908"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3925" y="685800"/>
            <a:ext cx="8017654"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90164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773" y="1"/>
            <a:ext cx="2436178"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3925" y="685801"/>
            <a:ext cx="10016104"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3924" y="2667000"/>
            <a:ext cx="10016104"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0122" y="5883276"/>
            <a:ext cx="1142702"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IN"/>
          </a:p>
        </p:txBody>
      </p:sp>
      <p:sp>
        <p:nvSpPr>
          <p:cNvPr id="5" name="Footer Placeholder 4"/>
          <p:cNvSpPr>
            <a:spLocks noGrp="1"/>
          </p:cNvSpPr>
          <p:nvPr>
            <p:ph type="ftr" sz="quarter" idx="3"/>
          </p:nvPr>
        </p:nvSpPr>
        <p:spPr>
          <a:xfrm>
            <a:off x="2571610" y="5883276"/>
            <a:ext cx="7082332"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49005" y="5883276"/>
            <a:ext cx="55102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24966625"/>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Lst>
  <p:hf sldNum="0" hdr="0" ftr="0" dt="0"/>
  <p:txStyles>
    <p:titleStyle>
      <a:lvl1pPr algn="ctr" defTabSz="457063" rtl="0" eaLnBrk="1" latinLnBrk="0" hangingPunct="1">
        <a:spcBef>
          <a:spcPct val="0"/>
        </a:spcBef>
        <a:buNone/>
        <a:defRPr sz="3999"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ct val="20000"/>
        </a:spcBef>
        <a:spcAft>
          <a:spcPts val="600"/>
        </a:spcAft>
        <a:buClr>
          <a:schemeClr val="accent1">
            <a:lumMod val="75000"/>
          </a:schemeClr>
        </a:buClr>
        <a:buSzPct val="145000"/>
        <a:buFont typeface="Arial"/>
        <a:buChar char="•"/>
        <a:defRPr sz="2399" kern="1200" cap="none">
          <a:solidFill>
            <a:schemeClr val="tx1"/>
          </a:solidFill>
          <a:effectLst/>
          <a:latin typeface="+mn-lt"/>
          <a:ea typeface="+mn-ea"/>
          <a:cs typeface="+mn-cs"/>
        </a:defRPr>
      </a:lvl1pPr>
      <a:lvl2pPr marL="742727" indent="-285664" algn="l" defTabSz="457063" rtl="0" eaLnBrk="1" latinLnBrk="0" hangingPunct="1">
        <a:spcBef>
          <a:spcPct val="20000"/>
        </a:spcBef>
        <a:spcAft>
          <a:spcPts val="600"/>
        </a:spcAft>
        <a:buClr>
          <a:schemeClr val="accent1">
            <a:lumMod val="75000"/>
          </a:schemeClr>
        </a:buClr>
        <a:buSzPct val="145000"/>
        <a:buFont typeface="Arial"/>
        <a:buChar char="•"/>
        <a:defRPr sz="1999" kern="1200" cap="none">
          <a:solidFill>
            <a:schemeClr val="tx1"/>
          </a:solidFill>
          <a:effectLst/>
          <a:latin typeface="+mn-lt"/>
          <a:ea typeface="+mn-ea"/>
          <a:cs typeface="+mn-cs"/>
        </a:defRPr>
      </a:lvl2pPr>
      <a:lvl3pPr marL="1199790" indent="-285664" algn="l" defTabSz="457063" rtl="0" eaLnBrk="1" latinLnBrk="0" hangingPunct="1">
        <a:spcBef>
          <a:spcPct val="20000"/>
        </a:spcBef>
        <a:spcAft>
          <a:spcPts val="600"/>
        </a:spcAft>
        <a:buClr>
          <a:schemeClr val="accent1">
            <a:lumMod val="75000"/>
          </a:schemeClr>
        </a:buClr>
        <a:buSzPct val="145000"/>
        <a:buFont typeface="Arial"/>
        <a:buChar char="•"/>
        <a:defRPr sz="1799" kern="1200" cap="none">
          <a:solidFill>
            <a:schemeClr val="tx1"/>
          </a:solidFill>
          <a:effectLst/>
          <a:latin typeface="+mn-lt"/>
          <a:ea typeface="+mn-ea"/>
          <a:cs typeface="+mn-cs"/>
        </a:defRPr>
      </a:lvl3pPr>
      <a:lvl4pPr marL="1542587" indent="-171399" algn="l" defTabSz="457063"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1999650" indent="-171399"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3846"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0908"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7971"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5034"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b="1" dirty="0">
                <a:latin typeface="Algerian" panose="04020705040A02060702" pitchFamily="82" charset="0"/>
              </a:rPr>
              <a:t>TIME TABLE NOTIFICATION SYSTEM</a:t>
            </a:r>
            <a:endParaRPr dirty="0">
              <a:latin typeface="Algerian" panose="04020705040A02060702" pitchFamily="82" charset="0"/>
            </a:endParaRPr>
          </a:p>
        </p:txBody>
      </p:sp>
      <p:sp>
        <p:nvSpPr>
          <p:cNvPr id="85" name="Google Shape;85;p1"/>
          <p:cNvSpPr txBox="1">
            <a:spLocks noGrp="1"/>
          </p:cNvSpPr>
          <p:nvPr>
            <p:ph type="subTitle" idx="1"/>
          </p:nvPr>
        </p:nvSpPr>
        <p:spPr>
          <a:prstGeom prst="rect">
            <a:avLst/>
          </a:prstGeom>
          <a:noFill/>
          <a:ln>
            <a:noFill/>
          </a:ln>
        </p:spPr>
        <p:txBody>
          <a:bodyPr spcFirstLastPara="1" wrap="square" lIns="91425" tIns="45700" rIns="91425" bIns="45700" anchor="t" anchorCtr="0">
            <a:normAutofit fontScale="92500" lnSpcReduction="10000"/>
          </a:bodyPr>
          <a:lstStyle/>
          <a:p>
            <a:pPr marL="0" lvl="0" indent="0" algn="ctr" rtl="0">
              <a:spcBef>
                <a:spcPts val="0"/>
              </a:spcBef>
              <a:spcAft>
                <a:spcPts val="0"/>
              </a:spcAft>
              <a:buClr>
                <a:srgbClr val="888888"/>
              </a:buClr>
              <a:buSzPts val="2000"/>
              <a:buNone/>
            </a:pPr>
            <a:r>
              <a:rPr lang="en-US" sz="2000" dirty="0"/>
              <a:t>TEAM MEMBERS:</a:t>
            </a:r>
            <a:endParaRPr dirty="0"/>
          </a:p>
          <a:p>
            <a:pPr marL="0" lvl="0" indent="0" algn="ctr" rtl="0">
              <a:spcBef>
                <a:spcPts val="640"/>
              </a:spcBef>
              <a:spcAft>
                <a:spcPts val="0"/>
              </a:spcAft>
              <a:buClr>
                <a:srgbClr val="888888"/>
              </a:buClr>
              <a:buSzPts val="3200"/>
              <a:buNone/>
            </a:pPr>
            <a:r>
              <a:rPr lang="en-US" dirty="0">
                <a:solidFill>
                  <a:srgbClr val="888888"/>
                </a:solidFill>
              </a:rPr>
              <a:t>SHYAM M-241801267-AI&amp;DS</a:t>
            </a:r>
          </a:p>
          <a:p>
            <a:pPr marL="0" lvl="0" indent="0" algn="ctr" rtl="0">
              <a:spcBef>
                <a:spcPts val="640"/>
              </a:spcBef>
              <a:spcAft>
                <a:spcPts val="0"/>
              </a:spcAft>
              <a:buClr>
                <a:srgbClr val="888888"/>
              </a:buClr>
              <a:buSzPts val="3200"/>
              <a:buNone/>
            </a:pPr>
            <a:r>
              <a:rPr lang="en-US" dirty="0">
                <a:solidFill>
                  <a:srgbClr val="888888"/>
                </a:solidFill>
              </a:rPr>
              <a:t>SRIMAN A – 241801276 – AI&amp;DS</a:t>
            </a:r>
            <a:endParaRPr dirty="0"/>
          </a:p>
          <a:p>
            <a:pPr marL="0" lvl="0" indent="0" algn="ctr" rtl="0">
              <a:spcBef>
                <a:spcPts val="640"/>
              </a:spcBef>
              <a:spcAft>
                <a:spcPts val="0"/>
              </a:spcAft>
              <a:buClr>
                <a:srgbClr val="888888"/>
              </a:buClr>
              <a:buSzPts val="3200"/>
              <a:buNone/>
            </a:pPr>
            <a:r>
              <a:rPr lang="en-US" dirty="0">
                <a:solidFill>
                  <a:srgbClr val="888888"/>
                </a:solidFill>
              </a:rPr>
              <a:t>TARRUN B – 241801291 – AI&amp;DS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292942" y="284470"/>
            <a:ext cx="8229600" cy="1143000"/>
          </a:xfrm>
          <a:prstGeom prst="rect">
            <a:avLst/>
          </a:prstGeom>
          <a:noFill/>
          <a:ln>
            <a:noFill/>
          </a:ln>
        </p:spPr>
        <p:txBody>
          <a:bodyPr spcFirstLastPara="1" wrap="square" lIns="91425" tIns="45700" rIns="91425" bIns="45700" anchor="ctr" anchorCtr="0">
            <a:normAutofit/>
          </a:bodyPr>
          <a:lstStyle/>
          <a:p>
            <a:pPr marL="0" lvl="0" indent="0" rtl="0">
              <a:spcBef>
                <a:spcPts val="0"/>
              </a:spcBef>
              <a:spcAft>
                <a:spcPts val="0"/>
              </a:spcAft>
              <a:buClr>
                <a:schemeClr val="dk1"/>
              </a:buClr>
              <a:buSzPts val="3600"/>
              <a:buFont typeface="Calibri"/>
              <a:buNone/>
            </a:pPr>
            <a:r>
              <a:rPr lang="en-US" sz="3600" b="1" dirty="0">
                <a:latin typeface="Algerian" panose="04020705040A02060702" pitchFamily="82" charset="0"/>
              </a:rPr>
              <a:t>INTRODUCTION</a:t>
            </a:r>
            <a:endParaRPr dirty="0">
              <a:latin typeface="Algerian" panose="04020705040A02060702" pitchFamily="82" charset="0"/>
            </a:endParaRPr>
          </a:p>
        </p:txBody>
      </p:sp>
      <p:sp>
        <p:nvSpPr>
          <p:cNvPr id="91" name="Google Shape;91;p2"/>
          <p:cNvSpPr txBox="1"/>
          <p:nvPr/>
        </p:nvSpPr>
        <p:spPr>
          <a:xfrm>
            <a:off x="415973" y="1654700"/>
            <a:ext cx="11356878" cy="4154943"/>
          </a:xfrm>
          <a:prstGeom prst="rect">
            <a:avLst/>
          </a:prstGeom>
          <a:noFill/>
          <a:ln>
            <a:noFill/>
          </a:ln>
        </p:spPr>
        <p:txBody>
          <a:bodyPr spcFirstLastPara="1" wrap="square" lIns="91425" tIns="45700" rIns="91425" bIns="45700" anchor="t" anchorCtr="0">
            <a:spAutoFit/>
          </a:bodyPr>
          <a:lstStyle/>
          <a:p>
            <a:r>
              <a:rPr lang="en-IN" sz="2400" cap="small" dirty="0"/>
              <a:t>In modern educational institutions, students often face difficulties keeping track of class schedules, especially when the timetable frequently changes. This project addresses that issue by creating an automated reminder system using a Java application connected to an Oracle database. The application retrieves class schedules from the database and sends reminders before each class through Telegram Bot notifications. This reduces human dependency and ensures timely communication.</a:t>
            </a:r>
            <a:endParaRPr lang="en-IN" sz="2400" dirty="0"/>
          </a:p>
          <a:p>
            <a:r>
              <a:rPr lang="en-IN" sz="2400" b="1" cap="small" dirty="0"/>
              <a:t>The system allows the user to:</a:t>
            </a:r>
            <a:endParaRPr lang="en-IN" sz="2400" b="1" dirty="0"/>
          </a:p>
          <a:p>
            <a:pPr marL="342900" indent="-342900">
              <a:buFont typeface="Arial" panose="020B0604020202020204" pitchFamily="34" charset="0"/>
              <a:buChar char="•"/>
            </a:pPr>
            <a:r>
              <a:rPr lang="en-IN" sz="2400" cap="small" dirty="0"/>
              <a:t>View the daily timetable for a specific batch.</a:t>
            </a:r>
            <a:endParaRPr lang="en-IN" sz="2400" dirty="0"/>
          </a:p>
          <a:p>
            <a:pPr marL="342900" lvl="3" indent="-342900">
              <a:buFont typeface="Arial" panose="020B0604020202020204" pitchFamily="34" charset="0"/>
              <a:buChar char="•"/>
            </a:pPr>
            <a:r>
              <a:rPr lang="en-IN" sz="2400" cap="small" dirty="0"/>
              <a:t>Automatically send Telegram alerts before class start times.</a:t>
            </a:r>
            <a:endParaRPr lang="en-IN" sz="2400" dirty="0"/>
          </a:p>
          <a:p>
            <a:pPr marL="342900" lvl="3" indent="-342900">
              <a:buFont typeface="Arial" panose="020B0604020202020204" pitchFamily="34" charset="0"/>
              <a:buChar char="•"/>
            </a:pPr>
            <a:r>
              <a:rPr lang="en-IN" sz="2400" cap="small" dirty="0"/>
              <a:t>Configure reminder intervals as per user preference</a:t>
            </a:r>
            <a:r>
              <a:rPr lang="en-IN" cap="small" dirty="0"/>
              <a:t>.</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p:nvPr/>
        </p:nvSpPr>
        <p:spPr>
          <a:xfrm>
            <a:off x="2698700" y="425600"/>
            <a:ext cx="55716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b="1" dirty="0">
                <a:solidFill>
                  <a:schemeClr val="dk1"/>
                </a:solidFill>
                <a:latin typeface="Algerian" panose="04020705040A02060702" pitchFamily="82" charset="0"/>
                <a:ea typeface="Calibri"/>
                <a:cs typeface="Calibri"/>
                <a:sym typeface="Calibri"/>
              </a:rPr>
              <a:t>                    ABSTRACT</a:t>
            </a:r>
            <a:endParaRPr sz="3200" b="1" dirty="0">
              <a:solidFill>
                <a:schemeClr val="dk1"/>
              </a:solidFill>
              <a:latin typeface="Algerian" panose="04020705040A02060702" pitchFamily="82" charset="0"/>
              <a:ea typeface="Calibri"/>
              <a:cs typeface="Calibri"/>
              <a:sym typeface="Calibri"/>
            </a:endParaRPr>
          </a:p>
        </p:txBody>
      </p:sp>
      <p:sp>
        <p:nvSpPr>
          <p:cNvPr id="103" name="Google Shape;103;p4"/>
          <p:cNvSpPr txBox="1"/>
          <p:nvPr/>
        </p:nvSpPr>
        <p:spPr>
          <a:xfrm>
            <a:off x="566462" y="1267779"/>
            <a:ext cx="11055900" cy="4493508"/>
          </a:xfrm>
          <a:prstGeom prst="rect">
            <a:avLst/>
          </a:prstGeom>
          <a:noFill/>
          <a:ln>
            <a:noFill/>
          </a:ln>
        </p:spPr>
        <p:txBody>
          <a:bodyPr spcFirstLastPara="1" wrap="square" lIns="91425" tIns="91425" rIns="91425" bIns="91425" anchor="t" anchorCtr="0">
            <a:spAutoFit/>
          </a:bodyPr>
          <a:lstStyle/>
          <a:p>
            <a:r>
              <a:rPr lang="en-IN" sz="2800" dirty="0"/>
              <a:t>This project titled </a:t>
            </a:r>
            <a:r>
              <a:rPr lang="en-IN" sz="2800" b="1" dirty="0"/>
              <a:t>“Timetable Notification System”</a:t>
            </a:r>
            <a:r>
              <a:rPr lang="en-IN" sz="2800" dirty="0"/>
              <a:t> is designed to automate the process of reminding students about their upcoming classes through </a:t>
            </a:r>
            <a:r>
              <a:rPr lang="en-IN" sz="2800" b="1" dirty="0"/>
              <a:t>Telegram notifications</a:t>
            </a:r>
            <a:r>
              <a:rPr lang="en-IN" sz="2800" dirty="0"/>
              <a:t>. The system integrates </a:t>
            </a:r>
            <a:r>
              <a:rPr lang="en-IN" sz="2800" b="1" dirty="0"/>
              <a:t>Oracle Database</a:t>
            </a:r>
            <a:r>
              <a:rPr lang="en-IN" sz="2800" dirty="0"/>
              <a:t> for backend data storage and </a:t>
            </a:r>
            <a:r>
              <a:rPr lang="en-IN" sz="2800" b="1" dirty="0"/>
              <a:t>Java (JDBC)</a:t>
            </a:r>
            <a:r>
              <a:rPr lang="en-IN" sz="2800" dirty="0"/>
              <a:t> for the frontend logic. It retrieves the class schedule for a given batch, displays the daily timetable, and automatically sends reminders to students before each class. The integration with Telegram’s API ensures instant and reliable communication. This system eliminates the need for manual timetable checking and helps improve punctuality and class attendance.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p:nvPr/>
        </p:nvSpPr>
        <p:spPr>
          <a:xfrm>
            <a:off x="1127200" y="4121250"/>
            <a:ext cx="10058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09" name="Google Shape;109;p5"/>
          <p:cNvSpPr txBox="1"/>
          <p:nvPr/>
        </p:nvSpPr>
        <p:spPr>
          <a:xfrm>
            <a:off x="3163314" y="387869"/>
            <a:ext cx="4894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dirty="0">
                <a:solidFill>
                  <a:schemeClr val="dk1"/>
                </a:solidFill>
                <a:latin typeface="Calibri"/>
                <a:ea typeface="Calibri"/>
                <a:cs typeface="Calibri"/>
                <a:sym typeface="Calibri"/>
              </a:rPr>
              <a:t>                   </a:t>
            </a:r>
            <a:r>
              <a:rPr lang="en-US" sz="3200" b="1" dirty="0">
                <a:solidFill>
                  <a:schemeClr val="dk1"/>
                </a:solidFill>
                <a:latin typeface="Algerian" panose="04020705040A02060702" pitchFamily="82" charset="0"/>
                <a:ea typeface="Calibri"/>
                <a:cs typeface="Calibri"/>
                <a:sym typeface="Calibri"/>
              </a:rPr>
              <a:t>MODULE</a:t>
            </a:r>
            <a:endParaRPr sz="3200" b="1" dirty="0">
              <a:solidFill>
                <a:schemeClr val="dk1"/>
              </a:solidFill>
              <a:latin typeface="Algerian" panose="04020705040A02060702" pitchFamily="82" charset="0"/>
              <a:ea typeface="Calibri"/>
              <a:cs typeface="Calibri"/>
              <a:sym typeface="Calibri"/>
            </a:endParaRPr>
          </a:p>
        </p:txBody>
      </p:sp>
      <p:sp>
        <p:nvSpPr>
          <p:cNvPr id="110" name="Google Shape;110;p5"/>
          <p:cNvSpPr txBox="1"/>
          <p:nvPr/>
        </p:nvSpPr>
        <p:spPr>
          <a:xfrm>
            <a:off x="462116" y="1160206"/>
            <a:ext cx="11100618" cy="5375151"/>
          </a:xfrm>
          <a:prstGeom prst="rect">
            <a:avLst/>
          </a:prstGeom>
          <a:noFill/>
          <a:ln>
            <a:noFill/>
          </a:ln>
        </p:spPr>
        <p:txBody>
          <a:bodyPr spcFirstLastPara="1" wrap="square" lIns="91425" tIns="91425" rIns="91425" bIns="91425" anchor="t" anchorCtr="0">
            <a:spAutoFit/>
          </a:bodyPr>
          <a:lstStyle/>
          <a:p>
            <a:r>
              <a:rPr lang="en-IN" sz="2800" b="1" dirty="0"/>
              <a:t>Module 1: Database Design</a:t>
            </a:r>
            <a:endParaRPr lang="en-IN" sz="2800" dirty="0"/>
          </a:p>
          <a:p>
            <a:pPr lvl="0"/>
            <a:r>
              <a:rPr lang="en-IN" sz="2800" dirty="0"/>
              <a:t>The Oracle backend consists of </a:t>
            </a:r>
            <a:r>
              <a:rPr lang="en-IN" sz="2800" b="1" dirty="0"/>
              <a:t>five main tables</a:t>
            </a:r>
            <a:r>
              <a:rPr lang="en-IN" sz="2800" dirty="0"/>
              <a:t>: batch, course, teacher, classroom, and timetable.</a:t>
            </a:r>
          </a:p>
          <a:p>
            <a:pPr lvl="0"/>
            <a:r>
              <a:rPr lang="en-IN" sz="2800" dirty="0"/>
              <a:t>The schema maintains relationships between these entities using </a:t>
            </a:r>
            <a:r>
              <a:rPr lang="en-IN" sz="2800" b="1" dirty="0"/>
              <a:t>foreign keys</a:t>
            </a:r>
            <a:r>
              <a:rPr lang="en-IN" sz="2800" dirty="0"/>
              <a:t>.</a:t>
            </a:r>
          </a:p>
          <a:p>
            <a:pPr lvl="0"/>
            <a:r>
              <a:rPr lang="en-IN" sz="2800" dirty="0"/>
              <a:t>Each timetable entry maps a course, teacher, classroom, and batch for a specific day and time.</a:t>
            </a:r>
          </a:p>
          <a:p>
            <a:r>
              <a:rPr lang="en-IN" sz="2800" b="1" dirty="0"/>
              <a:t>Module 2: Timetable Display</a:t>
            </a:r>
            <a:endParaRPr lang="en-IN" sz="2800" dirty="0"/>
          </a:p>
          <a:p>
            <a:pPr lvl="0"/>
            <a:r>
              <a:rPr lang="en-IN" sz="2800" dirty="0"/>
              <a:t>The Java frontend connects to Oracle using </a:t>
            </a:r>
            <a:r>
              <a:rPr lang="en-IN" sz="2800" b="1" dirty="0"/>
              <a:t>JDBC</a:t>
            </a:r>
            <a:r>
              <a:rPr lang="en-IN" sz="2800" dirty="0"/>
              <a:t>.</a:t>
            </a:r>
          </a:p>
          <a:p>
            <a:pPr lvl="0"/>
            <a:r>
              <a:rPr lang="en-IN" sz="2800" dirty="0"/>
              <a:t>Users can input their batch ID and day of the week to display the full timetable.</a:t>
            </a:r>
          </a:p>
          <a:p>
            <a:pPr lvl="0"/>
            <a:r>
              <a:rPr lang="en-IN" sz="2800" dirty="0"/>
              <a:t>Timetable results are sorted by class start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E9D6313-F2D8-502F-7232-BC2211D135AE}"/>
              </a:ext>
            </a:extLst>
          </p:cNvPr>
          <p:cNvSpPr>
            <a:spLocks noGrp="1"/>
          </p:cNvSpPr>
          <p:nvPr>
            <p:ph idx="1"/>
          </p:nvPr>
        </p:nvSpPr>
        <p:spPr>
          <a:xfrm>
            <a:off x="781663" y="1022554"/>
            <a:ext cx="10250129" cy="5417573"/>
          </a:xfrm>
        </p:spPr>
        <p:txBody>
          <a:bodyPr>
            <a:normAutofit fontScale="70000" lnSpcReduction="20000"/>
          </a:bodyPr>
          <a:lstStyle/>
          <a:p>
            <a:pPr lvl="0"/>
            <a:endParaRPr lang="en-IN" dirty="0"/>
          </a:p>
          <a:p>
            <a:pPr marL="114300" indent="0">
              <a:buNone/>
            </a:pPr>
            <a:r>
              <a:rPr lang="en-IN" sz="3400" b="1" dirty="0"/>
              <a:t>Module 3: Telegram Notification System</a:t>
            </a:r>
            <a:endParaRPr lang="en-IN" sz="3400" dirty="0"/>
          </a:p>
          <a:p>
            <a:pPr marL="114300" lvl="0" indent="0">
              <a:buNone/>
            </a:pPr>
            <a:r>
              <a:rPr lang="en-IN" sz="3400" dirty="0"/>
              <a:t>The program integrates with </a:t>
            </a:r>
            <a:r>
              <a:rPr lang="en-IN" sz="3400" b="1" dirty="0"/>
              <a:t>Telegram Bot API</a:t>
            </a:r>
            <a:r>
              <a:rPr lang="en-IN" sz="3400" dirty="0"/>
              <a:t> using HTTP requests.</a:t>
            </a:r>
          </a:p>
          <a:p>
            <a:pPr marL="114300" lvl="0" indent="0">
              <a:buNone/>
            </a:pPr>
            <a:r>
              <a:rPr lang="en-IN" sz="3400" dirty="0"/>
              <a:t>Users configure reminder time (in minutes before class).</a:t>
            </a:r>
          </a:p>
          <a:p>
            <a:pPr marL="114300" lvl="0" indent="0">
              <a:buNone/>
            </a:pPr>
            <a:r>
              <a:rPr lang="en-IN" sz="3400" dirty="0"/>
              <a:t>The system continuously checks the current time and compares it with class start times.</a:t>
            </a:r>
          </a:p>
          <a:p>
            <a:pPr marL="114300" lvl="0" indent="0">
              <a:buNone/>
            </a:pPr>
            <a:r>
              <a:rPr lang="en-IN" sz="3400" dirty="0"/>
              <a:t>When a class is about to begin, a </a:t>
            </a:r>
            <a:r>
              <a:rPr lang="en-IN" sz="3400" b="1" dirty="0"/>
              <a:t>Telegram notification</a:t>
            </a:r>
            <a:r>
              <a:rPr lang="en-IN" sz="3400" dirty="0"/>
              <a:t> is automatically sent to the group or chat.</a:t>
            </a:r>
          </a:p>
          <a:p>
            <a:pPr marL="114300" lvl="0" indent="0">
              <a:buNone/>
            </a:pPr>
            <a:endParaRPr lang="en-IN" sz="3400" dirty="0"/>
          </a:p>
          <a:p>
            <a:pPr marL="114300" indent="0">
              <a:buNone/>
            </a:pPr>
            <a:r>
              <a:rPr lang="en-IN" sz="3400" b="1" dirty="0"/>
              <a:t>Module 4: Reminder Loop</a:t>
            </a:r>
            <a:endParaRPr lang="en-IN" sz="3400" dirty="0"/>
          </a:p>
          <a:p>
            <a:pPr marL="114300" lvl="0" indent="0">
              <a:buNone/>
            </a:pPr>
            <a:r>
              <a:rPr lang="en-IN" sz="3400" dirty="0"/>
              <a:t>Runs in the background continuously.</a:t>
            </a:r>
          </a:p>
          <a:p>
            <a:pPr marL="114300" lvl="0" indent="0">
              <a:buNone/>
            </a:pPr>
            <a:r>
              <a:rPr lang="en-IN" sz="3400" dirty="0"/>
              <a:t>Sends notifications once per class (avoiding duplicates using a hash set).</a:t>
            </a:r>
          </a:p>
          <a:p>
            <a:pPr marL="114300" lvl="0" indent="0">
              <a:buNone/>
            </a:pPr>
            <a:r>
              <a:rPr lang="en-IN" sz="3400" dirty="0"/>
              <a:t>Checks for the next upcoming class every minute</a:t>
            </a:r>
            <a:r>
              <a:rPr lang="en-IN" dirty="0"/>
              <a:t>.</a:t>
            </a:r>
          </a:p>
          <a:p>
            <a:endParaRPr lang="en-IN" dirty="0"/>
          </a:p>
        </p:txBody>
      </p:sp>
    </p:spTree>
    <p:extLst>
      <p:ext uri="{BB962C8B-B14F-4D97-AF65-F5344CB8AC3E}">
        <p14:creationId xmlns:p14="http://schemas.microsoft.com/office/powerpoint/2010/main" val="250604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A26D2-3B3B-CF11-6A5E-1BF666F60E61}"/>
              </a:ext>
            </a:extLst>
          </p:cNvPr>
          <p:cNvSpPr>
            <a:spLocks noGrp="1"/>
          </p:cNvSpPr>
          <p:nvPr>
            <p:ph type="title"/>
          </p:nvPr>
        </p:nvSpPr>
        <p:spPr>
          <a:xfrm>
            <a:off x="1351935" y="274638"/>
            <a:ext cx="8229600" cy="1143000"/>
          </a:xfrm>
        </p:spPr>
        <p:txBody>
          <a:bodyPr/>
          <a:lstStyle/>
          <a:p>
            <a:r>
              <a:rPr lang="en-US" b="1" dirty="0">
                <a:latin typeface="Algerian" panose="04020705040A02060702" pitchFamily="82" charset="0"/>
              </a:rPr>
              <a:t>ER DIAGRAM</a:t>
            </a:r>
            <a:endParaRPr lang="en-IN" b="1" dirty="0">
              <a:latin typeface="Algerian" panose="04020705040A02060702" pitchFamily="82" charset="0"/>
            </a:endParaRPr>
          </a:p>
        </p:txBody>
      </p:sp>
      <p:sp>
        <p:nvSpPr>
          <p:cNvPr id="3" name="Text Placeholder 2">
            <a:extLst>
              <a:ext uri="{FF2B5EF4-FFF2-40B4-BE49-F238E27FC236}">
                <a16:creationId xmlns:a16="http://schemas.microsoft.com/office/drawing/2014/main" id="{24FE8ACC-5AB3-27E2-3EB1-1607B8EA3FEB}"/>
              </a:ext>
            </a:extLst>
          </p:cNvPr>
          <p:cNvSpPr>
            <a:spLocks noGrp="1"/>
          </p:cNvSpPr>
          <p:nvPr>
            <p:ph idx="1"/>
          </p:nvPr>
        </p:nvSpPr>
        <p:spPr>
          <a:xfrm>
            <a:off x="776748" y="1750142"/>
            <a:ext cx="7910052" cy="4376021"/>
          </a:xfrm>
        </p:spPr>
        <p:txBody>
          <a:bodyPr/>
          <a:lstStyle/>
          <a:p>
            <a:endParaRPr lang="en-IN" dirty="0"/>
          </a:p>
        </p:txBody>
      </p:sp>
      <p:pic>
        <p:nvPicPr>
          <p:cNvPr id="5" name="Picture 4">
            <a:extLst>
              <a:ext uri="{FF2B5EF4-FFF2-40B4-BE49-F238E27FC236}">
                <a16:creationId xmlns:a16="http://schemas.microsoft.com/office/drawing/2014/main" id="{76DA41F3-2D87-0848-3CB6-0F142988AAB4}"/>
              </a:ext>
            </a:extLst>
          </p:cNvPr>
          <p:cNvPicPr>
            <a:picLocks noChangeAspect="1"/>
          </p:cNvPicPr>
          <p:nvPr/>
        </p:nvPicPr>
        <p:blipFill>
          <a:blip r:embed="rId2"/>
          <a:stretch>
            <a:fillRect/>
          </a:stretch>
        </p:blipFill>
        <p:spPr>
          <a:xfrm>
            <a:off x="776748" y="1600200"/>
            <a:ext cx="10151653" cy="4225282"/>
          </a:xfrm>
          <a:prstGeom prst="rect">
            <a:avLst/>
          </a:prstGeom>
        </p:spPr>
      </p:pic>
    </p:spTree>
    <p:extLst>
      <p:ext uri="{BB962C8B-B14F-4D97-AF65-F5344CB8AC3E}">
        <p14:creationId xmlns:p14="http://schemas.microsoft.com/office/powerpoint/2010/main" val="2538817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38cbf804795_0_42"/>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Conclusion</a:t>
            </a:r>
            <a:endParaRPr/>
          </a:p>
        </p:txBody>
      </p:sp>
      <p:sp>
        <p:nvSpPr>
          <p:cNvPr id="161" name="Google Shape;161;g38cbf804795_0_42"/>
          <p:cNvSpPr txBox="1">
            <a:spLocks noGrp="1"/>
          </p:cNvSpPr>
          <p:nvPr>
            <p:ph idx="1"/>
          </p:nvPr>
        </p:nvSpPr>
        <p:spPr>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Parallax</Template>
  <TotalTime>0</TotalTime>
  <Words>427</Words>
  <Application>Microsoft Office PowerPoint</Application>
  <PresentationFormat>Custom</PresentationFormat>
  <Paragraphs>35</Paragraphs>
  <Slides>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Algerian</vt:lpstr>
      <vt:lpstr>Arial</vt:lpstr>
      <vt:lpstr>Calibri</vt:lpstr>
      <vt:lpstr>Corbel</vt:lpstr>
      <vt:lpstr>Parallax</vt:lpstr>
      <vt:lpstr>TIME TABLE NOTIFICATION SYSTEM</vt:lpstr>
      <vt:lpstr>INTRODUCTION</vt:lpstr>
      <vt:lpstr>PowerPoint Presentation</vt:lpstr>
      <vt:lpstr>PowerPoint Presentation</vt:lpstr>
      <vt:lpstr>PowerPoint Presentation</vt:lpstr>
      <vt:lpstr>ER DIAGRAM</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SHYAM</dc:creator>
  <cp:lastModifiedBy>Tarrun B</cp:lastModifiedBy>
  <cp:revision>1</cp:revision>
  <dcterms:created xsi:type="dcterms:W3CDTF">2013-01-27T09:14:16Z</dcterms:created>
  <dcterms:modified xsi:type="dcterms:W3CDTF">2025-12-21T07:51:01Z</dcterms:modified>
</cp:coreProperties>
</file>